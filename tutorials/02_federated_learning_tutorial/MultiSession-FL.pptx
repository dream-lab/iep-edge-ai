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58" r:id="rId5"/>
    <p:sldId id="262" r:id="rId6"/>
    <p:sldId id="263" r:id="rId7"/>
    <p:sldId id="261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40"/>
    <p:restoredTop sz="94670"/>
  </p:normalViewPr>
  <p:slideViewPr>
    <p:cSldViewPr snapToGrid="0">
      <p:cViewPr varScale="1">
        <p:scale>
          <a:sx n="100" d="100"/>
          <a:sy n="100" d="100"/>
        </p:scale>
        <p:origin x="176" y="2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4CF9-716C-60AA-3E5F-2833E031D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90B5AD-DF62-9001-D295-B9186FF72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E81E5-A7B7-03FB-4F4C-18224EA77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000F1-F0C6-7337-6D31-52C35188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24930-54DD-F137-4017-370AAA39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3F77-C638-E795-CE7A-0C569D81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C4C8-AF43-5732-1008-F8898C4E5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AFE95-D769-1256-EDEC-BEC5AB14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DCD6-1D99-C436-7946-1E5F52D2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2B61-1116-3F64-B27D-544D6AC17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0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1924-35BC-CFDC-AE3E-7A01E535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C1E2E-4349-C770-56D0-B1FCD8738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8E30-EB42-6322-6D13-1B1BFA94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291F-51B4-0EC9-4DAD-95E69B45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5B09C-C12B-B449-9559-7C076328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7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9C1A-DFF7-1C0E-8428-88485E91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6015-D553-B2D2-A5ED-0B21ABAA5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599A5-AB0B-D817-45B3-ABCBE7199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F99F7-9BEA-335F-9B2A-8D5917D7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5B354-ADDC-C271-A910-088D56C5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C567E-DB44-53DC-A407-BF65EACA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1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46D8-2642-533A-E339-AFDC25C0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6DA65-CC07-51B0-0E7C-CFC8746D5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E38B75-025A-71F9-E803-4EF639634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7D718-1B7C-E8AB-8655-598AA3018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BE93B2-B20E-4E22-7CAD-4EF7523E3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C2FD6F-92D2-EBFE-8FEA-9FF860D1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8A9B1-1488-1BEF-BCF6-F451D483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FA846-B99E-FBF5-9024-E841AA24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83C9-6B97-A96F-B13E-C277691F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E8CE3-8279-F3CF-B0C1-BF909064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681BD-1C33-1DFE-6BE7-8A805F5F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55EAE-67F2-1FA5-068E-83C61C09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38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14D05-E996-C0B1-FF4F-9907A7FC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4C761-8F5B-91D8-D894-041A970C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71CB5-C37E-0085-1353-54601671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9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C106-7176-E3EC-D8A1-09A1384D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865DC-D552-B696-8BFB-80E976134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3FC78-8C8D-4EEB-B6DD-9F38EBED2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ABACE-33E6-F47A-654E-A6061833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5A2D2-204E-EC6F-51E4-26A8B73A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0B3D1-383B-A23F-5D25-4E1542B1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8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6024-47D8-3379-3B7B-413E9FAE6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015F2-8BEB-2BC6-28B1-55652757F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84CCB-C66A-AB52-8379-6B13115B6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149DA-7FA7-48BA-DCD5-6E5028E3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5B2E6-B28F-581D-B7CF-7F4416BE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B549E-A465-5E44-1321-5791BFCB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8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578E-9989-6C9F-968D-90CB9B2B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09712-DC89-C802-0903-0A13B73D9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1183E-7EDC-E10C-A91D-8140ED69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AF1C4-DE5A-819C-C779-F9F0C5B3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F84D3-A4B1-BB7F-4707-95595D81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9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66EA4-AE3C-EC3C-33A6-965692718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F03E4-FA1A-0ACA-23FA-B234E3EB5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4F36A-6677-877C-5CA1-7D738F8A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8E83-6CB8-4244-8B02-43B14213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C4F62-D07B-8C4E-399D-552458AC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7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B90A42-FA04-C5F8-83B6-B5E898C7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E486-2CAE-CB25-CC56-FB24193A3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BBE2-6A0E-2D66-207D-E873F2B80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A8790-A55C-FE4F-B246-AEE830CFFC75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267E7-8A31-7161-8A98-A1C514FC2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E4185-38A3-C210-303D-9E759625F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783F7-292E-EF4D-9783-3F8131B0F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9E5B-B963-2A30-DB61-95B6D427B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 Session FL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2DF0D-AB1F-77DB-82BE-A7655EE38A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2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172E-2627-D6F4-A977-19728CAC2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2690"/>
            <a:ext cx="10515600" cy="28527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Fairness-Aware Multi-Server Federated Learning Task Delegation Over Wireless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757E1-2A0C-EBA4-A1BA-DFF5D8E6474A}"/>
              </a:ext>
            </a:extLst>
          </p:cNvPr>
          <p:cNvSpPr txBox="1"/>
          <p:nvPr/>
        </p:nvSpPr>
        <p:spPr>
          <a:xfrm>
            <a:off x="3049191" y="4730234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2025- IEEE TNSE</a:t>
            </a:r>
          </a:p>
        </p:txBody>
      </p:sp>
    </p:spTree>
    <p:extLst>
      <p:ext uri="{BB962C8B-B14F-4D97-AF65-F5344CB8AC3E}">
        <p14:creationId xmlns:p14="http://schemas.microsoft.com/office/powerpoint/2010/main" val="2211652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F49A-853B-0412-931C-E1C81B4C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E792-4EB9-5A77-BB89-E68755C9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811"/>
          </a:xfrm>
        </p:spPr>
        <p:txBody>
          <a:bodyPr>
            <a:normAutofit fontScale="90000"/>
          </a:bodyPr>
          <a:lstStyle/>
          <a:p>
            <a:r>
              <a:rPr lang="en-US" dirty="0"/>
              <a:t>Gaps Being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761A0-C758-E1E0-5C3A-09A402E2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1936"/>
            <a:ext cx="10515600" cy="5165027"/>
          </a:xfrm>
        </p:spPr>
        <p:txBody>
          <a:bodyPr>
            <a:normAutofit/>
          </a:bodyPr>
          <a:lstStyle/>
          <a:p>
            <a:r>
              <a:rPr lang="en-US" sz="1800" dirty="0"/>
              <a:t>Existing contract-based methods for client selection assume that there is a single server in the FL system, which is unrealistic.</a:t>
            </a:r>
          </a:p>
          <a:p>
            <a:r>
              <a:rPr lang="en-IN" sz="1800" dirty="0"/>
              <a:t>They don't address the challenge of FL in wireless systems where clients have limited communication coverage, making the server work with clients it can directly reach.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71AD5-C725-0B4D-FC7F-494C49C641E5}"/>
              </a:ext>
            </a:extLst>
          </p:cNvPr>
          <p:cNvSpPr txBox="1"/>
          <p:nvPr/>
        </p:nvSpPr>
        <p:spPr>
          <a:xfrm>
            <a:off x="838200" y="63903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Fairness-Aware Multi-Server Federated Learning Task Delegation Over Wireless Networks</a:t>
            </a:r>
          </a:p>
        </p:txBody>
      </p:sp>
    </p:spTree>
    <p:extLst>
      <p:ext uri="{BB962C8B-B14F-4D97-AF65-F5344CB8AC3E}">
        <p14:creationId xmlns:p14="http://schemas.microsoft.com/office/powerpoint/2010/main" val="263093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1819-3F07-76AB-0A5D-021DEDDB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5900-1EF0-5606-BCA3-84978D6F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619"/>
          </a:xfrm>
        </p:spPr>
        <p:txBody>
          <a:bodyPr>
            <a:normAutofit fontScale="90000"/>
          </a:bodyPr>
          <a:lstStyle/>
          <a:p>
            <a:r>
              <a:rPr lang="en-US" dirty="0"/>
              <a:t>Paper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F555-492C-C9BC-D380-15E8F560A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744"/>
            <a:ext cx="10515600" cy="5177219"/>
          </a:xfrm>
        </p:spPr>
        <p:txBody>
          <a:bodyPr>
            <a:normAutofit/>
          </a:bodyPr>
          <a:lstStyle/>
          <a:p>
            <a:r>
              <a:rPr lang="en-US" sz="1800" dirty="0"/>
              <a:t>Combines</a:t>
            </a:r>
          </a:p>
          <a:p>
            <a:pPr lvl="1"/>
            <a:r>
              <a:rPr lang="en-US" sz="1600" dirty="0"/>
              <a:t>Contract Theory: to incentivize clients (decide participation + rewards)</a:t>
            </a:r>
          </a:p>
          <a:p>
            <a:pPr lvl="1"/>
            <a:r>
              <a:rPr lang="en-US" sz="1600" dirty="0"/>
              <a:t>Lyapunov Optimization: to make dynamic decision over time (handle fairness + cost)</a:t>
            </a:r>
          </a:p>
          <a:p>
            <a:r>
              <a:rPr lang="en-US" sz="1800" dirty="0"/>
              <a:t>Task Requester (TR)</a:t>
            </a:r>
          </a:p>
          <a:p>
            <a:pPr lvl="1"/>
            <a:r>
              <a:rPr lang="en-US" sz="1600" dirty="0"/>
              <a:t>TR is the central entity that creates tasks, assigns them to servers, manages costs, and ensures fairness in the system.</a:t>
            </a:r>
          </a:p>
          <a:p>
            <a:pPr lvl="1"/>
            <a:r>
              <a:rPr lang="en-US" sz="1600" dirty="0"/>
              <a:t>It generates FL task and decides which server gets which FL task.</a:t>
            </a:r>
          </a:p>
          <a:p>
            <a:r>
              <a:rPr lang="en-US" sz="1800" dirty="0"/>
              <a:t>Each server gets/manages a cluster of mobile clients which keeps on changing over time.</a:t>
            </a:r>
          </a:p>
          <a:p>
            <a:r>
              <a:rPr lang="en-US" sz="1800" dirty="0"/>
              <a:t>Since the system is dynamic due to mobile clients the use </a:t>
            </a:r>
            <a:r>
              <a:rPr lang="en-US" sz="1800" dirty="0" err="1"/>
              <a:t>L.Optimization</a:t>
            </a:r>
            <a:r>
              <a:rPr lang="en-US" sz="1800" dirty="0"/>
              <a:t> to manage this.</a:t>
            </a:r>
          </a:p>
          <a:p>
            <a:r>
              <a:rPr lang="en-US" sz="1800" dirty="0"/>
              <a:t>Tries to balance b/w performance (good accuracy and low cost) and fairness (all servers get fair access to all FL task over time)</a:t>
            </a:r>
          </a:p>
          <a:p>
            <a:pPr marL="457200" lvl="1" indent="0">
              <a:buNone/>
            </a:pPr>
            <a:endParaRPr lang="en-US" sz="1100" dirty="0"/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6229D-A437-7A45-17C2-E69FAAA64A0B}"/>
              </a:ext>
            </a:extLst>
          </p:cNvPr>
          <p:cNvSpPr txBox="1"/>
          <p:nvPr/>
        </p:nvSpPr>
        <p:spPr>
          <a:xfrm>
            <a:off x="838200" y="63903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Fairness-Aware Multi-Server Federated Learning Task Delegation Over Wireless Networks</a:t>
            </a:r>
          </a:p>
        </p:txBody>
      </p:sp>
    </p:spTree>
    <p:extLst>
      <p:ext uri="{BB962C8B-B14F-4D97-AF65-F5344CB8AC3E}">
        <p14:creationId xmlns:p14="http://schemas.microsoft.com/office/powerpoint/2010/main" val="37041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F73C-94BF-4645-DCEC-971E6E8B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368E-F8D5-5F43-613E-08DDC933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467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7705C-E90E-5A49-8AB5-F33C48C4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6592"/>
            <a:ext cx="10515600" cy="5250371"/>
          </a:xfrm>
        </p:spPr>
        <p:txBody>
          <a:bodyPr/>
          <a:lstStyle/>
          <a:p>
            <a:r>
              <a:rPr lang="en-US" sz="2400" dirty="0"/>
              <a:t>xxx</a:t>
            </a:r>
          </a:p>
          <a:p>
            <a:r>
              <a:rPr lang="en-US" sz="2400" dirty="0"/>
              <a:t>For each server a virtual queue is maintained that:</a:t>
            </a:r>
          </a:p>
          <a:p>
            <a:pPr lvl="1"/>
            <a:r>
              <a:rPr lang="en-US" sz="2000" dirty="0"/>
              <a:t>CASE I: Server is not selected</a:t>
            </a:r>
          </a:p>
          <a:p>
            <a:pPr lvl="2"/>
            <a:r>
              <a:rPr lang="en-US" sz="1800" dirty="0"/>
              <a:t>Unfair so the queue increases</a:t>
            </a:r>
          </a:p>
          <a:p>
            <a:pPr lvl="2"/>
            <a:r>
              <a:rPr lang="en-US" sz="1800" dirty="0"/>
              <a:t>Increases if the server is of high quality (low accuracy loss)</a:t>
            </a:r>
          </a:p>
          <a:p>
            <a:pPr lvl="1"/>
            <a:r>
              <a:rPr lang="en-US" sz="2000" dirty="0"/>
              <a:t>CASE II: Server is selected</a:t>
            </a:r>
          </a:p>
          <a:p>
            <a:pPr lvl="2"/>
            <a:r>
              <a:rPr lang="en-US" sz="1800" dirty="0"/>
              <a:t>Fair so the queue decreases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9D6B9-C28E-70CB-2844-AB62C8BA9377}"/>
              </a:ext>
            </a:extLst>
          </p:cNvPr>
          <p:cNvSpPr txBox="1"/>
          <p:nvPr/>
        </p:nvSpPr>
        <p:spPr>
          <a:xfrm>
            <a:off x="838200" y="63903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Fairness-Aware Multi-Server Federated Learning Task Delegation Over Wireless Networks</a:t>
            </a:r>
          </a:p>
        </p:txBody>
      </p:sp>
    </p:spTree>
    <p:extLst>
      <p:ext uri="{BB962C8B-B14F-4D97-AF65-F5344CB8AC3E}">
        <p14:creationId xmlns:p14="http://schemas.microsoft.com/office/powerpoint/2010/main" val="77771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CDC0-F71D-A20D-75C8-C5086C5F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83D1-7BE3-FCB2-91E9-CAD9650E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223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39BD-F313-EBB6-3B59-CA9BA6107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21" y="2042658"/>
            <a:ext cx="10726479" cy="3923226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Servers: 10; uniform </a:t>
            </a:r>
            <a:r>
              <a:rPr lang="en-US" sz="1800" dirty="0" err="1"/>
              <a:t>dist</a:t>
            </a:r>
            <a:endParaRPr lang="en-US" sz="1800" dirty="0"/>
          </a:p>
          <a:p>
            <a:r>
              <a:rPr lang="en-US" sz="1800" dirty="0"/>
              <a:t>Clients: 200; random; </a:t>
            </a:r>
            <a:r>
              <a:rPr lang="en-US" sz="1800" dirty="0" err="1"/>
              <a:t>indepnt</a:t>
            </a:r>
            <a:r>
              <a:rPr lang="en-US" sz="1800" dirty="0"/>
              <a:t>; avg same density</a:t>
            </a:r>
          </a:p>
          <a:p>
            <a:r>
              <a:rPr lang="en-US" sz="1800" dirty="0"/>
              <a:t>Datasets: MNIST and CIFAR10; </a:t>
            </a:r>
          </a:p>
          <a:p>
            <a:pPr marL="0" indent="0">
              <a:buNone/>
            </a:pPr>
            <a:r>
              <a:rPr lang="en-US" sz="1800" dirty="0"/>
              <a:t>	      heterogeneity in quantity</a:t>
            </a:r>
          </a:p>
          <a:p>
            <a:r>
              <a:rPr lang="en-US" sz="1800" dirty="0"/>
              <a:t>Global Epochs: 50</a:t>
            </a:r>
          </a:p>
          <a:p>
            <a:r>
              <a:rPr lang="en-US" sz="1800" dirty="0"/>
              <a:t>Local Epochs: 10</a:t>
            </a:r>
          </a:p>
          <a:p>
            <a:r>
              <a:rPr lang="en-US" sz="1800" dirty="0"/>
              <a:t>Each epoch consists of 10 batches; </a:t>
            </a:r>
            <a:r>
              <a:rPr lang="en-US" sz="1800" dirty="0" err="1"/>
              <a:t>lr</a:t>
            </a:r>
            <a:r>
              <a:rPr lang="en-US" sz="1800" dirty="0"/>
              <a:t>=0.01; SGD with momentum 0.5</a:t>
            </a:r>
          </a:p>
          <a:p>
            <a:r>
              <a:rPr lang="en-US" sz="1800" dirty="0"/>
              <a:t>Models: </a:t>
            </a:r>
          </a:p>
          <a:p>
            <a:pPr lvl="1"/>
            <a:r>
              <a:rPr lang="en-US" sz="1600" dirty="0" err="1"/>
              <a:t>MnistCNN</a:t>
            </a:r>
            <a:r>
              <a:rPr lang="en-US" sz="1600" dirty="0"/>
              <a:t> consists of two convolutional layers with dropout, two fully connected layers, and employs </a:t>
            </a:r>
            <a:r>
              <a:rPr lang="en-US" sz="1600" dirty="0" err="1"/>
              <a:t>ReLU</a:t>
            </a:r>
            <a:r>
              <a:rPr lang="en-US" sz="1600" dirty="0"/>
              <a:t> activation and max pooling, outputting through a log </a:t>
            </a:r>
            <a:r>
              <a:rPr lang="en-US" sz="1600" dirty="0" err="1"/>
              <a:t>softmax</a:t>
            </a:r>
            <a:r>
              <a:rPr lang="en-US" sz="1600" dirty="0"/>
              <a:t> function.</a:t>
            </a:r>
          </a:p>
          <a:p>
            <a:pPr lvl="1"/>
            <a:r>
              <a:rPr lang="en-US" sz="1600" dirty="0" err="1"/>
              <a:t>CifarCNN</a:t>
            </a:r>
            <a:r>
              <a:rPr lang="en-US" sz="1600" dirty="0"/>
              <a:t> features two convolutional layers followed by max pooling, three linear layers, and also uses </a:t>
            </a:r>
            <a:r>
              <a:rPr lang="en-US" sz="1600" dirty="0" err="1"/>
              <a:t>ReLU</a:t>
            </a:r>
            <a:r>
              <a:rPr lang="en-US" sz="1600" dirty="0"/>
              <a:t> activation, culminating in a log </a:t>
            </a:r>
            <a:r>
              <a:rPr lang="en-US" sz="1600" dirty="0" err="1"/>
              <a:t>softmax</a:t>
            </a:r>
            <a:r>
              <a:rPr lang="en-US" sz="1600" dirty="0"/>
              <a:t> output.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AC2D1-1D4F-812B-18E3-51A71906369E}"/>
              </a:ext>
            </a:extLst>
          </p:cNvPr>
          <p:cNvSpPr txBox="1"/>
          <p:nvPr/>
        </p:nvSpPr>
        <p:spPr>
          <a:xfrm>
            <a:off x="838200" y="63903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Fairness-Aware Multi-Server Federated Learning Task Delegation Over Wireless Networks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F8AC9-22D9-66C3-1783-587F91FA0C39}"/>
              </a:ext>
            </a:extLst>
          </p:cNvPr>
          <p:cNvSpPr/>
          <p:nvPr/>
        </p:nvSpPr>
        <p:spPr>
          <a:xfrm>
            <a:off x="5784112" y="542449"/>
            <a:ext cx="6103088" cy="3094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C380B-5882-C9E6-A9BE-3023B2E2B0F0}"/>
              </a:ext>
            </a:extLst>
          </p:cNvPr>
          <p:cNvSpPr txBox="1"/>
          <p:nvPr/>
        </p:nvSpPr>
        <p:spPr>
          <a:xfrm>
            <a:off x="8665535" y="3636523"/>
            <a:ext cx="95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200 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63476-AF39-8614-02E5-5CA9E5B4AFCE}"/>
              </a:ext>
            </a:extLst>
          </p:cNvPr>
          <p:cNvSpPr txBox="1"/>
          <p:nvPr/>
        </p:nvSpPr>
        <p:spPr>
          <a:xfrm>
            <a:off x="4958316" y="1806430"/>
            <a:ext cx="95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</a:t>
            </a:r>
            <a:r>
              <a:rPr lang="en-US" sz="1800" dirty="0"/>
              <a:t>00 m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9E93C0-43DE-1572-9715-89C42637D986}"/>
              </a:ext>
            </a:extLst>
          </p:cNvPr>
          <p:cNvCxnSpPr>
            <a:cxnSpLocks/>
          </p:cNvCxnSpPr>
          <p:nvPr/>
        </p:nvCxnSpPr>
        <p:spPr>
          <a:xfrm>
            <a:off x="6868633" y="542449"/>
            <a:ext cx="0" cy="3094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412AD3-B13F-FD2A-6684-AF848526BCE2}"/>
              </a:ext>
            </a:extLst>
          </p:cNvPr>
          <p:cNvCxnSpPr>
            <a:cxnSpLocks/>
          </p:cNvCxnSpPr>
          <p:nvPr/>
        </p:nvCxnSpPr>
        <p:spPr>
          <a:xfrm>
            <a:off x="8073656" y="540865"/>
            <a:ext cx="0" cy="3094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D0801C-6C14-F013-D850-7C304CE35F84}"/>
              </a:ext>
            </a:extLst>
          </p:cNvPr>
          <p:cNvCxnSpPr>
            <a:cxnSpLocks/>
          </p:cNvCxnSpPr>
          <p:nvPr/>
        </p:nvCxnSpPr>
        <p:spPr>
          <a:xfrm>
            <a:off x="9328298" y="540865"/>
            <a:ext cx="0" cy="3094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B651CE-97D7-7671-857A-066481616D37}"/>
              </a:ext>
            </a:extLst>
          </p:cNvPr>
          <p:cNvCxnSpPr>
            <a:cxnSpLocks/>
          </p:cNvCxnSpPr>
          <p:nvPr/>
        </p:nvCxnSpPr>
        <p:spPr>
          <a:xfrm>
            <a:off x="10625471" y="540865"/>
            <a:ext cx="0" cy="3094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918238-7649-8E17-2330-3DA79C27641F}"/>
              </a:ext>
            </a:extLst>
          </p:cNvPr>
          <p:cNvCxnSpPr>
            <a:cxnSpLocks/>
          </p:cNvCxnSpPr>
          <p:nvPr/>
        </p:nvCxnSpPr>
        <p:spPr>
          <a:xfrm>
            <a:off x="5784112" y="1991096"/>
            <a:ext cx="60960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175DD6-C565-5A14-9F55-239C2B512129}"/>
              </a:ext>
            </a:extLst>
          </p:cNvPr>
          <p:cNvSpPr txBox="1"/>
          <p:nvPr/>
        </p:nvSpPr>
        <p:spPr>
          <a:xfrm>
            <a:off x="8139232" y="1283210"/>
            <a:ext cx="12315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50m x 40m</a:t>
            </a:r>
          </a:p>
        </p:txBody>
      </p:sp>
    </p:spTree>
    <p:extLst>
      <p:ext uri="{BB962C8B-B14F-4D97-AF65-F5344CB8AC3E}">
        <p14:creationId xmlns:p14="http://schemas.microsoft.com/office/powerpoint/2010/main" val="151021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E6D2-8BA5-BEAF-C327-42ADB796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D971-1A60-B5CC-4645-29C37DA4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913"/>
            <a:ext cx="10515600" cy="634619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D8906-87A8-C9E8-0DC0-588EDDFB7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150" y="3862766"/>
            <a:ext cx="9537700" cy="2401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752D66-7A30-8FB0-74F2-CF6842624A25}"/>
              </a:ext>
            </a:extLst>
          </p:cNvPr>
          <p:cNvSpPr txBox="1"/>
          <p:nvPr/>
        </p:nvSpPr>
        <p:spPr>
          <a:xfrm>
            <a:off x="838200" y="63903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Fairness-Aware Multi-Server Federated Learning Task Delegation Over Wireless Networks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3C8438-8606-B1B1-9F62-14F33D6FC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1" y="433766"/>
            <a:ext cx="35020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85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3655-402D-5531-2F6B-48CC28E6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851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B01A-752D-3AA6-6EE7-095659037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976"/>
            <a:ext cx="10515600" cy="52259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85280-F278-B8D4-2E52-E03525718F99}"/>
              </a:ext>
            </a:extLst>
          </p:cNvPr>
          <p:cNvSpPr txBox="1"/>
          <p:nvPr/>
        </p:nvSpPr>
        <p:spPr>
          <a:xfrm>
            <a:off x="838200" y="6390345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Fairness-Aware Multi-Server Federated Learning Task Delegation Over Wireless Networks</a:t>
            </a:r>
          </a:p>
        </p:txBody>
      </p:sp>
    </p:spTree>
    <p:extLst>
      <p:ext uri="{BB962C8B-B14F-4D97-AF65-F5344CB8AC3E}">
        <p14:creationId xmlns:p14="http://schemas.microsoft.com/office/powerpoint/2010/main" val="130468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427</Words>
  <Application>Microsoft Macintosh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Multi Session FL</vt:lpstr>
      <vt:lpstr>Fairness-Aware Multi-Server Federated Learning Task Delegation Over Wireless Networks</vt:lpstr>
      <vt:lpstr>Gaps Being Addressed</vt:lpstr>
      <vt:lpstr>Paper Contributions</vt:lpstr>
      <vt:lpstr>Methodology</vt:lpstr>
      <vt:lpstr>Experiment Setup</vt:lpstr>
      <vt:lpstr>Results</vt:lpstr>
      <vt:lpstr>Research Gaps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Manjil Nepal</dc:creator>
  <cp:lastModifiedBy>Manjil Nepal</cp:lastModifiedBy>
  <cp:revision>13</cp:revision>
  <dcterms:created xsi:type="dcterms:W3CDTF">2026-04-13T06:10:07Z</dcterms:created>
  <dcterms:modified xsi:type="dcterms:W3CDTF">2026-04-15T06:29:32Z</dcterms:modified>
</cp:coreProperties>
</file>